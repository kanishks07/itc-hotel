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exend SemiBold"/>
      <p:regular r:id="rId21"/>
      <p:bold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Manrope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exendSemiBold-bold.fntdata"/><Relationship Id="rId21" Type="http://schemas.openxmlformats.org/officeDocument/2006/relationships/font" Target="fonts/LexendSemiBold-regular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anrope-bold.fntdata"/><Relationship Id="rId27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da12eb9a5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" name="Google Shape;16;g3da12eb9a5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da12eb9a5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g3da12eb9a5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a12eb9a5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da12eb9a5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da12eb9a5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da12eb9a5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a12eb9a5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da12eb9a5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a12eb9a5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da12eb9a5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a12eb9a5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da12eb9a5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a12eb9a5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da12eb9a5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a12eb9a5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a12eb9a5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a12eb9a5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a12eb9a5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a12eb9a5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a12eb9a5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a12eb9a5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a12eb9a5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a12eb9a5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a12eb9a5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a12eb9a5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a12eb9a5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a12eb9a5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a12eb9a5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3">
            <a:alphaModFix/>
          </a:blip>
          <a:srcRect b="0" l="348" r="357" t="0"/>
          <a:stretch/>
        </p:blipFill>
        <p:spPr>
          <a:xfrm>
            <a:off x="-25150" y="0"/>
            <a:ext cx="9169149" cy="51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/>
        </p:nvSpPr>
        <p:spPr>
          <a:xfrm>
            <a:off x="5185700" y="1527050"/>
            <a:ext cx="38379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Created an interactive, multi-page Power BI dashboard for ITC Hotels, designed to analyze key metrics including financial performance, booking behavior, occupancy trends, and room category performance. This solution delivers real-time insights, enabling stakeholders to use data-driven decision-making to optimize revenue, minimize cancellations, and enhance customer satisfaction.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ert new property" id="29" name="Google Shape;2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275"/>
            <a:ext cx="9274550" cy="517269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/>
        </p:nvSpPr>
        <p:spPr>
          <a:xfrm>
            <a:off x="5238450" y="1867475"/>
            <a:ext cx="36222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highlight>
                  <a:srgbClr val="FFFFFF"/>
                </a:highlight>
              </a:rPr>
              <a:t>Financial Overview &amp; Revenue Performance</a:t>
            </a:r>
            <a:endParaRPr sz="3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7" title="Screenshot 2026-03-23 0119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925" y="0"/>
            <a:ext cx="98603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ert any property in the circle" id="40" name="Google Shape;4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103" y="-2275"/>
            <a:ext cx="92222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/>
          <p:nvPr/>
        </p:nvSpPr>
        <p:spPr>
          <a:xfrm>
            <a:off x="4785325" y="1426475"/>
            <a:ext cx="4075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Generated ₹1.06+ billion revenue with strong WoW growth (136.79%), though recent MoM decline indicates an emerging slowdown.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Premium segments (Elite &amp; Premium rooms) and top properties like ITC Exotica drive the majority of revenue.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High ADR (14.92K) and RevPAR (6.51K) reflect a strong luxury pricing strategy.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Weekday bookings dominate, with fluctuating weekly trends and lower weekend demand highlighting optimization opportunities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thot text"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126" y="-2275"/>
            <a:ext cx="92402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/>
          <p:nvPr/>
        </p:nvSpPr>
        <p:spPr>
          <a:xfrm>
            <a:off x="5185700" y="1706575"/>
            <a:ext cx="38775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highlight>
                  <a:srgbClr val="FFFFFF"/>
                </a:highlight>
              </a:rPr>
              <a:t>Occupancy &amp; Capacity Analysis</a:t>
            </a:r>
            <a:endParaRPr sz="3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 title="Screenshot 2026-03-23 0120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81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ert any property in the circle"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100" y="-93725"/>
            <a:ext cx="9222200" cy="52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/>
          <p:nvPr/>
        </p:nvSpPr>
        <p:spPr>
          <a:xfrm>
            <a:off x="5067000" y="849350"/>
            <a:ext cx="4077000" cy="4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Declining Trend in Performance: Both RevPAR and Occupancy Rate show a consistent decline from May to July, indicating weakening demand or seasonal slowdown.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Negative Month-on-Month Growth: Occupancy dropped by -7.02% MoM, highlighting a significant short-term decline in hotel utilization.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Moderate Overall Occupancy: The overall occupancy rate stands at 38.49%, suggesting underutilized capacity across properties.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Variation Across Properties &amp; Room Classes: Occupancy rates differ by property and room class, with premium and elite rooms performing slightly better, while overall levels drop sharply toward certain locations.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ert any property of ITC hotel inside this circle" id="63" name="Google Shape;6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103" y="0"/>
            <a:ext cx="92222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/>
          <p:nvPr/>
        </p:nvSpPr>
        <p:spPr>
          <a:xfrm>
            <a:off x="5082825" y="1917600"/>
            <a:ext cx="3864300" cy="16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highlight>
                  <a:srgbClr val="FFFFFF"/>
                </a:highlight>
              </a:rPr>
              <a:t>Room Category Performance &amp; Booking Insights</a:t>
            </a:r>
            <a:endParaRPr sz="3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 title="Screenshot 2026-03-23 0120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850" y="0"/>
            <a:ext cx="919772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thot text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251" y="0"/>
            <a:ext cx="92402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4776850" y="374550"/>
            <a:ext cx="4260000" cy="46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Elite room class generates the highest revenue, indicating strong customer preference for premium offerings.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Average Length of Stay (ALOS) is consistently around 2.38 days across properties and room classes, suggesting relatively short stays.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ITC Grand, ITC Blu, and ITC Exotica show higher ALOS compared to ITC Seasons and ITC City, suggesting stronger guest engagement at premium locations.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Revenue contribution is higher on weekdays (especially Monday and Friday), indicating that business travel demand plays a key role in bookings.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ert new property"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103" y="52775"/>
            <a:ext cx="92222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5238450" y="2036300"/>
            <a:ext cx="36222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highlight>
                  <a:srgbClr val="FFFFFF"/>
                </a:highlight>
              </a:rPr>
              <a:t>Cancellations &amp; Lost Revenue Analysis</a:t>
            </a:r>
            <a:endParaRPr sz="3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 title="Screenshot 2026-03-23 0121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025"/>
            <a:ext cx="9296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property inside the circle"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2838175" y="71200"/>
            <a:ext cx="4404900" cy="3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b="1"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High Cancellation Volume &amp; Impact:</a:t>
            </a: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21K bookings cancelled, resulting in a significant ₹126M revenue loss and directly impacting profitability.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b="1"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Consistently High Cancellation Rate:</a:t>
            </a: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The overall rate is 25.04%, meaning 1 in every 4 bookings is cancelled—a major operational concern.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b="1"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Stable but Slightly Increasing Trend:</a:t>
            </a: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Week-over-week (WoW) and month-over-month (MoM) changes (0.07 and 0.26) show a relatively stable but slightly rising cancellation trend.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b="1"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Variation Across Properties &amp; Room Classes:</a:t>
            </a: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Cancellation rates differ across locations (e.g., higher spikes at ITC Blu and ITC Seasons) and room types, suggesting inconsistent demand or booking reliability.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w property ending slide"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251" y="0"/>
            <a:ext cx="92402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5040625" y="2155000"/>
            <a:ext cx="3969600" cy="16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Presented By -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KANISHK SHRIVASTAVA</a:t>
            </a:r>
            <a:endParaRPr sz="24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